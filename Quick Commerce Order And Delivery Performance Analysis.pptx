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2" r:id="rId19"/>
    <p:sldId id="273"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0" d="100"/>
          <a:sy n="50" d="100"/>
        </p:scale>
        <p:origin x="1212" y="3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BBD0E-3EC2-4D6A-8787-C2D790BF59B2}"/>
              </a:ext>
            </a:extLst>
          </p:cNvPr>
          <p:cNvSpPr>
            <a:spLocks noGrp="1"/>
          </p:cNvSpPr>
          <p:nvPr>
            <p:ph type="ctrTitle"/>
          </p:nvPr>
        </p:nvSpPr>
        <p:spPr/>
        <p:txBody>
          <a:bodyPr/>
          <a:lstStyle/>
          <a:p>
            <a:r>
              <a:rPr lang="en-US" dirty="0"/>
              <a:t>Quick Commerce Order And Delivery Performance Analysis</a:t>
            </a:r>
            <a:endParaRPr lang="en-IN" dirty="0"/>
          </a:p>
        </p:txBody>
      </p:sp>
      <p:sp>
        <p:nvSpPr>
          <p:cNvPr id="3" name="Subtitle 2">
            <a:extLst>
              <a:ext uri="{FF2B5EF4-FFF2-40B4-BE49-F238E27FC236}">
                <a16:creationId xmlns:a16="http://schemas.microsoft.com/office/drawing/2014/main" id="{8847DE13-42C9-44C5-BA8B-0FB7D6D08371}"/>
              </a:ext>
            </a:extLst>
          </p:cNvPr>
          <p:cNvSpPr>
            <a:spLocks noGrp="1"/>
          </p:cNvSpPr>
          <p:nvPr>
            <p:ph type="subTitle" idx="1"/>
          </p:nvPr>
        </p:nvSpPr>
        <p:spPr/>
        <p:txBody>
          <a:bodyPr>
            <a:normAutofit/>
          </a:bodyPr>
          <a:lstStyle/>
          <a:p>
            <a:r>
              <a:rPr lang="en-US" sz="2000" b="1" dirty="0"/>
              <a:t>Presented BY</a:t>
            </a:r>
          </a:p>
          <a:p>
            <a:r>
              <a:rPr lang="en-US" sz="2000" b="1" dirty="0"/>
              <a:t>Harini Selvaraj</a:t>
            </a:r>
            <a:endParaRPr lang="en-IN" sz="2000" b="1" dirty="0"/>
          </a:p>
        </p:txBody>
      </p:sp>
    </p:spTree>
    <p:extLst>
      <p:ext uri="{BB962C8B-B14F-4D97-AF65-F5344CB8AC3E}">
        <p14:creationId xmlns:p14="http://schemas.microsoft.com/office/powerpoint/2010/main" val="2369668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08EE1-4761-4F6E-BEFD-8AB12C330C6B}"/>
              </a:ext>
            </a:extLst>
          </p:cNvPr>
          <p:cNvSpPr>
            <a:spLocks noGrp="1"/>
          </p:cNvSpPr>
          <p:nvPr>
            <p:ph type="title"/>
          </p:nvPr>
        </p:nvSpPr>
        <p:spPr>
          <a:xfrm>
            <a:off x="677334" y="609600"/>
            <a:ext cx="8596668" cy="579120"/>
          </a:xfrm>
        </p:spPr>
        <p:txBody>
          <a:bodyPr>
            <a:normAutofit fontScale="90000"/>
          </a:bodyPr>
          <a:lstStyle/>
          <a:p>
            <a:r>
              <a:rPr lang="en-US" dirty="0"/>
              <a:t>Introduction</a:t>
            </a:r>
            <a:endParaRPr lang="en-IN" dirty="0"/>
          </a:p>
        </p:txBody>
      </p:sp>
      <p:sp>
        <p:nvSpPr>
          <p:cNvPr id="3" name="Content Placeholder 2">
            <a:extLst>
              <a:ext uri="{FF2B5EF4-FFF2-40B4-BE49-F238E27FC236}">
                <a16:creationId xmlns:a16="http://schemas.microsoft.com/office/drawing/2014/main" id="{827D6D45-38D5-4568-A27A-0E8597DFA28D}"/>
              </a:ext>
            </a:extLst>
          </p:cNvPr>
          <p:cNvSpPr>
            <a:spLocks noGrp="1"/>
          </p:cNvSpPr>
          <p:nvPr>
            <p:ph idx="1"/>
          </p:nvPr>
        </p:nvSpPr>
        <p:spPr>
          <a:xfrm>
            <a:off x="575733" y="1188720"/>
            <a:ext cx="6394027" cy="4866640"/>
          </a:xfrm>
        </p:spPr>
        <p:txBody>
          <a:bodyPr>
            <a:normAutofit/>
          </a:bodyPr>
          <a:lstStyle/>
          <a:p>
            <a:r>
              <a:rPr lang="en-US" b="1" dirty="0"/>
              <a:t>Quick commerce platforms generate large volumes of operational and customer data every day across different cities and companies. </a:t>
            </a:r>
            <a:r>
              <a:rPr lang="en-US" b="1" dirty="0" err="1"/>
              <a:t>Analysing</a:t>
            </a:r>
            <a:r>
              <a:rPr lang="en-US" b="1" dirty="0"/>
              <a:t> this data helps understand delivery performance, customer ratings, order trends, discount usage and regional business performance.</a:t>
            </a:r>
            <a:endParaRPr lang="en-US" dirty="0"/>
          </a:p>
          <a:p>
            <a:r>
              <a:rPr lang="en-US" b="1" dirty="0"/>
              <a:t>Power BI is a business intelligence and data visualization tool that converts raw quick commerce data into interactive dashboards and reports. It helps users easily explore data, identify patterns and gain meaningful insights for better decisions.</a:t>
            </a:r>
            <a:endParaRPr lang="en-US" dirty="0"/>
          </a:p>
          <a:p>
            <a:r>
              <a:rPr lang="en-US" dirty="0"/>
              <a:t> </a:t>
            </a:r>
            <a:r>
              <a:rPr lang="en-US" b="1" dirty="0"/>
              <a:t>A Power BI dashboard simplifies quick commerce operations analysis and provides clear, actionable insights to improve delivery efficiency and business performance.</a:t>
            </a:r>
            <a:endParaRPr lang="en-US" dirty="0"/>
          </a:p>
          <a:p>
            <a:endParaRPr lang="en-IN" dirty="0"/>
          </a:p>
        </p:txBody>
      </p:sp>
    </p:spTree>
    <p:extLst>
      <p:ext uri="{BB962C8B-B14F-4D97-AF65-F5344CB8AC3E}">
        <p14:creationId xmlns:p14="http://schemas.microsoft.com/office/powerpoint/2010/main" val="4172172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6C1E0-7579-4BDB-9D49-0CFE95D6B2CE}"/>
              </a:ext>
            </a:extLst>
          </p:cNvPr>
          <p:cNvSpPr>
            <a:spLocks noGrp="1"/>
          </p:cNvSpPr>
          <p:nvPr>
            <p:ph type="title"/>
          </p:nvPr>
        </p:nvSpPr>
        <p:spPr>
          <a:xfrm>
            <a:off x="677334" y="609600"/>
            <a:ext cx="8596668" cy="711200"/>
          </a:xfrm>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DED480DB-30BF-4F14-BB3C-765C23C44443}"/>
              </a:ext>
            </a:extLst>
          </p:cNvPr>
          <p:cNvSpPr>
            <a:spLocks noGrp="1"/>
          </p:cNvSpPr>
          <p:nvPr>
            <p:ph idx="1"/>
          </p:nvPr>
        </p:nvSpPr>
        <p:spPr>
          <a:xfrm>
            <a:off x="677334" y="1320801"/>
            <a:ext cx="8596668" cy="4720562"/>
          </a:xfrm>
        </p:spPr>
        <p:txBody>
          <a:bodyPr/>
          <a:lstStyle/>
          <a:p>
            <a:r>
              <a:rPr lang="en-US" dirty="0"/>
              <a:t>Quick commerce operational data is large and complex, making it difficult to analyze delivery performance, customer ratings, order trends and discount impact using traditional methods.</a:t>
            </a:r>
          </a:p>
          <a:p>
            <a:r>
              <a:rPr lang="en-US" dirty="0"/>
              <a:t>Without proper visualization and analysis, it becomes challenging to monitor on-time delivery, compare company performance, evaluate category contribution and understand city-wise business performance for effective operational planning.</a:t>
            </a:r>
          </a:p>
          <a:p>
            <a:r>
              <a:rPr lang="en-US" dirty="0"/>
              <a:t>This project aims to address this problem by developing a </a:t>
            </a:r>
            <a:r>
              <a:rPr lang="en-US" b="1" dirty="0"/>
              <a:t>Quick Commerce Operations Dashboard using Power BI</a:t>
            </a:r>
            <a:r>
              <a:rPr lang="en-US" dirty="0"/>
              <a:t>, which converts raw operational data into interactive and insightful visualizations to support efficient analysis and data-driven decision making.</a:t>
            </a:r>
          </a:p>
          <a:p>
            <a:endParaRPr lang="en-IN" dirty="0"/>
          </a:p>
        </p:txBody>
      </p:sp>
    </p:spTree>
    <p:extLst>
      <p:ext uri="{BB962C8B-B14F-4D97-AF65-F5344CB8AC3E}">
        <p14:creationId xmlns:p14="http://schemas.microsoft.com/office/powerpoint/2010/main" val="2320345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18F68-EFAF-42C8-B34A-46C36A9A554F}"/>
              </a:ext>
            </a:extLst>
          </p:cNvPr>
          <p:cNvSpPr>
            <a:spLocks noGrp="1"/>
          </p:cNvSpPr>
          <p:nvPr>
            <p:ph type="title"/>
          </p:nvPr>
        </p:nvSpPr>
        <p:spPr>
          <a:xfrm>
            <a:off x="677334" y="609600"/>
            <a:ext cx="8596668" cy="680720"/>
          </a:xfrm>
        </p:spPr>
        <p:txBody>
          <a:bodyPr/>
          <a:lstStyle/>
          <a:p>
            <a:r>
              <a:rPr lang="en-US" dirty="0"/>
              <a:t>Business Problems</a:t>
            </a:r>
            <a:endParaRPr lang="en-IN" dirty="0"/>
          </a:p>
        </p:txBody>
      </p:sp>
      <p:sp>
        <p:nvSpPr>
          <p:cNvPr id="3" name="Content Placeholder 2">
            <a:extLst>
              <a:ext uri="{FF2B5EF4-FFF2-40B4-BE49-F238E27FC236}">
                <a16:creationId xmlns:a16="http://schemas.microsoft.com/office/drawing/2014/main" id="{7272A76F-C160-4189-8ABC-DFA436873BDB}"/>
              </a:ext>
            </a:extLst>
          </p:cNvPr>
          <p:cNvSpPr>
            <a:spLocks noGrp="1"/>
          </p:cNvSpPr>
          <p:nvPr>
            <p:ph idx="1"/>
          </p:nvPr>
        </p:nvSpPr>
        <p:spPr>
          <a:xfrm>
            <a:off x="677334" y="1432561"/>
            <a:ext cx="8596668" cy="4608802"/>
          </a:xfrm>
        </p:spPr>
        <p:txBody>
          <a:bodyPr>
            <a:normAutofit lnSpcReduction="10000"/>
          </a:bodyPr>
          <a:lstStyle/>
          <a:p>
            <a:pPr>
              <a:buFont typeface="+mj-lt"/>
              <a:buAutoNum type="arabicPeriod"/>
            </a:pPr>
            <a:r>
              <a:rPr lang="en-US" dirty="0"/>
              <a:t>Which quick commerce companies are achieving the highest on-time delivery performance, and which platforms are operationally more efficient?</a:t>
            </a:r>
          </a:p>
          <a:p>
            <a:pPr>
              <a:buFont typeface="+mj-lt"/>
              <a:buAutoNum type="arabicPeriod"/>
            </a:pPr>
            <a:r>
              <a:rPr lang="en-US" dirty="0"/>
              <a:t>How is our overall order volume and operational performance trending over time, and are there any identifiable peak periods or demand patterns?</a:t>
            </a:r>
          </a:p>
          <a:p>
            <a:pPr>
              <a:buFont typeface="+mj-lt"/>
              <a:buAutoNum type="arabicPeriod"/>
            </a:pPr>
            <a:r>
              <a:rPr lang="en-US" dirty="0"/>
              <a:t>How does delivery time influence customer ratings across different companies and cities?</a:t>
            </a:r>
          </a:p>
          <a:p>
            <a:pPr>
              <a:buFont typeface="+mj-lt"/>
              <a:buAutoNum type="arabicPeriod"/>
            </a:pPr>
            <a:r>
              <a:rPr lang="en-US" dirty="0"/>
              <a:t>Which product categories are contributing the highest order value, and which categories are top performing for each company?</a:t>
            </a:r>
          </a:p>
          <a:p>
            <a:pPr>
              <a:buFont typeface="+mj-lt"/>
              <a:buAutoNum type="arabicPeriod"/>
            </a:pPr>
            <a:r>
              <a:rPr lang="en-US" dirty="0"/>
              <a:t>How does order value and performance vary across different cities, and which cities present opportunities for business growth?</a:t>
            </a:r>
          </a:p>
          <a:p>
            <a:pPr>
              <a:buFont typeface="+mj-lt"/>
              <a:buAutoNum type="arabicPeriod"/>
            </a:pPr>
            <a:r>
              <a:rPr lang="en-US" dirty="0"/>
              <a:t>What is the distribution of orders across cities, and how can this information help improve delivery planning and logistics operations?</a:t>
            </a:r>
          </a:p>
          <a:p>
            <a:pPr>
              <a:buFont typeface="+mj-lt"/>
              <a:buAutoNum type="arabicPeriod"/>
            </a:pPr>
            <a:r>
              <a:rPr lang="en-US" dirty="0"/>
              <a:t>How does discount usage influence order value and customer </a:t>
            </a:r>
            <a:r>
              <a:rPr lang="en-US" dirty="0" err="1"/>
              <a:t>behaviour</a:t>
            </a:r>
            <a:r>
              <a:rPr lang="en-US" dirty="0"/>
              <a:t>, and does offering discounts improve business performance?</a:t>
            </a:r>
          </a:p>
          <a:p>
            <a:endParaRPr lang="en-IN" dirty="0"/>
          </a:p>
        </p:txBody>
      </p:sp>
    </p:spTree>
    <p:extLst>
      <p:ext uri="{BB962C8B-B14F-4D97-AF65-F5344CB8AC3E}">
        <p14:creationId xmlns:p14="http://schemas.microsoft.com/office/powerpoint/2010/main" val="1187337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6656-FFEB-470B-8DD2-F21D601F04F9}"/>
              </a:ext>
            </a:extLst>
          </p:cNvPr>
          <p:cNvSpPr>
            <a:spLocks noGrp="1"/>
          </p:cNvSpPr>
          <p:nvPr>
            <p:ph type="title"/>
          </p:nvPr>
        </p:nvSpPr>
        <p:spPr>
          <a:xfrm>
            <a:off x="677334" y="609600"/>
            <a:ext cx="8596668" cy="629920"/>
          </a:xfrm>
        </p:spPr>
        <p:txBody>
          <a:bodyPr>
            <a:normAutofit fontScale="90000"/>
          </a:bodyPr>
          <a:lstStyle/>
          <a:p>
            <a:r>
              <a:rPr lang="en-US" dirty="0"/>
              <a:t>Data Overview</a:t>
            </a:r>
            <a:endParaRPr lang="en-IN" dirty="0"/>
          </a:p>
        </p:txBody>
      </p:sp>
      <p:sp>
        <p:nvSpPr>
          <p:cNvPr id="3" name="Content Placeholder 2">
            <a:extLst>
              <a:ext uri="{FF2B5EF4-FFF2-40B4-BE49-F238E27FC236}">
                <a16:creationId xmlns:a16="http://schemas.microsoft.com/office/drawing/2014/main" id="{3119E5EF-D114-4478-B3F1-1F05EBC11D16}"/>
              </a:ext>
            </a:extLst>
          </p:cNvPr>
          <p:cNvSpPr>
            <a:spLocks noGrp="1"/>
          </p:cNvSpPr>
          <p:nvPr>
            <p:ph idx="1"/>
          </p:nvPr>
        </p:nvSpPr>
        <p:spPr>
          <a:xfrm>
            <a:off x="589280" y="1148081"/>
            <a:ext cx="8684722" cy="4944082"/>
          </a:xfrm>
        </p:spPr>
        <p:txBody>
          <a:bodyPr>
            <a:normAutofit fontScale="92500" lnSpcReduction="20000"/>
          </a:bodyPr>
          <a:lstStyle/>
          <a:p>
            <a:r>
              <a:rPr lang="en-US" b="1" dirty="0"/>
              <a:t>Total Records: 100000+ orders</a:t>
            </a:r>
          </a:p>
          <a:p>
            <a:r>
              <a:rPr lang="en-US" b="1" dirty="0"/>
              <a:t>Data Fields:</a:t>
            </a:r>
            <a:endParaRPr lang="en-US" dirty="0"/>
          </a:p>
          <a:p>
            <a:pPr>
              <a:buFont typeface="Arial" panose="020B0604020202020204" pitchFamily="34" charset="0"/>
              <a:buChar char="•"/>
            </a:pPr>
            <a:r>
              <a:rPr lang="en-US" dirty="0"/>
              <a:t>Order ID</a:t>
            </a:r>
          </a:p>
          <a:p>
            <a:pPr>
              <a:buFont typeface="Arial" panose="020B0604020202020204" pitchFamily="34" charset="0"/>
              <a:buChar char="•"/>
            </a:pPr>
            <a:r>
              <a:rPr lang="en-US" b="1" dirty="0"/>
              <a:t>Company Name </a:t>
            </a:r>
            <a:r>
              <a:rPr lang="en-US" dirty="0"/>
              <a:t>(</a:t>
            </a:r>
            <a:r>
              <a:rPr lang="en-US" dirty="0" err="1"/>
              <a:t>Blinkit</a:t>
            </a:r>
            <a:r>
              <a:rPr lang="en-US" dirty="0"/>
              <a:t>, </a:t>
            </a:r>
            <a:r>
              <a:rPr lang="en-US" dirty="0" err="1"/>
              <a:t>Zepto</a:t>
            </a:r>
            <a:r>
              <a:rPr lang="en-US" dirty="0"/>
              <a:t>, </a:t>
            </a:r>
            <a:r>
              <a:rPr lang="en-US" dirty="0" err="1"/>
              <a:t>Swiggy</a:t>
            </a:r>
            <a:r>
              <a:rPr lang="en-US" dirty="0"/>
              <a:t> </a:t>
            </a:r>
            <a:r>
              <a:rPr lang="en-US" dirty="0" err="1"/>
              <a:t>Instamart</a:t>
            </a:r>
            <a:r>
              <a:rPr lang="en-US" dirty="0"/>
              <a:t>, Big Basket, Amazon Now, </a:t>
            </a:r>
            <a:r>
              <a:rPr lang="en-US" dirty="0" err="1"/>
              <a:t>Dunzo</a:t>
            </a:r>
            <a:r>
              <a:rPr lang="en-US" dirty="0"/>
              <a:t>,         </a:t>
            </a:r>
          </a:p>
          <a:p>
            <a:pPr>
              <a:buFont typeface="Arial" panose="020B0604020202020204" pitchFamily="34" charset="0"/>
              <a:buChar char="•"/>
            </a:pPr>
            <a:r>
              <a:rPr lang="en-US" dirty="0"/>
              <a:t>                           Flipkart Minutes, </a:t>
            </a:r>
            <a:r>
              <a:rPr lang="en-US" dirty="0" err="1"/>
              <a:t>Jio</a:t>
            </a:r>
            <a:r>
              <a:rPr lang="en-US" dirty="0"/>
              <a:t> Mart)</a:t>
            </a:r>
          </a:p>
          <a:p>
            <a:pPr>
              <a:buFont typeface="Arial" panose="020B0604020202020204" pitchFamily="34" charset="0"/>
              <a:buChar char="•"/>
            </a:pPr>
            <a:r>
              <a:rPr lang="en-US" dirty="0"/>
              <a:t>Product Category</a:t>
            </a:r>
          </a:p>
          <a:p>
            <a:pPr>
              <a:buFont typeface="Arial" panose="020B0604020202020204" pitchFamily="34" charset="0"/>
              <a:buChar char="•"/>
            </a:pPr>
            <a:r>
              <a:rPr lang="en-US" dirty="0"/>
              <a:t>City</a:t>
            </a:r>
          </a:p>
          <a:p>
            <a:pPr>
              <a:buFont typeface="Arial" panose="020B0604020202020204" pitchFamily="34" charset="0"/>
              <a:buChar char="•"/>
            </a:pPr>
            <a:r>
              <a:rPr lang="en-US" dirty="0"/>
              <a:t>Delivery Time (Minutes)</a:t>
            </a:r>
          </a:p>
          <a:p>
            <a:pPr>
              <a:buFont typeface="Arial" panose="020B0604020202020204" pitchFamily="34" charset="0"/>
              <a:buChar char="•"/>
            </a:pPr>
            <a:r>
              <a:rPr lang="en-US" dirty="0"/>
              <a:t>Customer Rating</a:t>
            </a:r>
          </a:p>
          <a:p>
            <a:pPr>
              <a:buFont typeface="Arial" panose="020B0604020202020204" pitchFamily="34" charset="0"/>
              <a:buChar char="•"/>
            </a:pPr>
            <a:r>
              <a:rPr lang="en-US" dirty="0"/>
              <a:t>Order Value</a:t>
            </a:r>
          </a:p>
          <a:p>
            <a:pPr>
              <a:buFont typeface="Arial" panose="020B0604020202020204" pitchFamily="34" charset="0"/>
              <a:buChar char="•"/>
            </a:pPr>
            <a:r>
              <a:rPr lang="en-US" dirty="0"/>
              <a:t>Discount Applied</a:t>
            </a:r>
          </a:p>
          <a:p>
            <a:pPr>
              <a:buFont typeface="Arial" panose="020B0604020202020204" pitchFamily="34" charset="0"/>
              <a:buChar char="•"/>
            </a:pPr>
            <a:r>
              <a:rPr lang="en-US" dirty="0"/>
              <a:t>Distance</a:t>
            </a:r>
          </a:p>
          <a:p>
            <a:pPr>
              <a:buFont typeface="Arial" panose="020B0604020202020204" pitchFamily="34" charset="0"/>
              <a:buChar char="•"/>
            </a:pPr>
            <a:r>
              <a:rPr lang="en-US" dirty="0"/>
              <a:t>Items per Order</a:t>
            </a:r>
          </a:p>
          <a:p>
            <a:pPr>
              <a:buFont typeface="Arial" panose="020B0604020202020204" pitchFamily="34" charset="0"/>
              <a:buChar char="•"/>
            </a:pPr>
            <a:r>
              <a:rPr lang="en-US" dirty="0"/>
              <a:t>Payment Method</a:t>
            </a:r>
          </a:p>
          <a:p>
            <a:endParaRPr lang="en-IN" dirty="0"/>
          </a:p>
        </p:txBody>
      </p:sp>
    </p:spTree>
    <p:extLst>
      <p:ext uri="{BB962C8B-B14F-4D97-AF65-F5344CB8AC3E}">
        <p14:creationId xmlns:p14="http://schemas.microsoft.com/office/powerpoint/2010/main" val="3886307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BE1AE-C623-4C3D-8AF8-C33392DC85FC}"/>
              </a:ext>
            </a:extLst>
          </p:cNvPr>
          <p:cNvSpPr>
            <a:spLocks noGrp="1"/>
          </p:cNvSpPr>
          <p:nvPr>
            <p:ph type="title"/>
          </p:nvPr>
        </p:nvSpPr>
        <p:spPr>
          <a:xfrm>
            <a:off x="677334" y="609600"/>
            <a:ext cx="8596668" cy="701040"/>
          </a:xfrm>
        </p:spPr>
        <p:txBody>
          <a:bodyPr/>
          <a:lstStyle/>
          <a:p>
            <a:r>
              <a:rPr lang="en-US" dirty="0"/>
              <a:t>Technology Used</a:t>
            </a:r>
            <a:endParaRPr lang="en-IN" dirty="0"/>
          </a:p>
        </p:txBody>
      </p:sp>
      <p:sp>
        <p:nvSpPr>
          <p:cNvPr id="3" name="Content Placeholder 2">
            <a:extLst>
              <a:ext uri="{FF2B5EF4-FFF2-40B4-BE49-F238E27FC236}">
                <a16:creationId xmlns:a16="http://schemas.microsoft.com/office/drawing/2014/main" id="{EC42D544-2CBC-400B-B571-E29BF907DE5F}"/>
              </a:ext>
            </a:extLst>
          </p:cNvPr>
          <p:cNvSpPr>
            <a:spLocks noGrp="1"/>
          </p:cNvSpPr>
          <p:nvPr>
            <p:ph idx="1"/>
          </p:nvPr>
        </p:nvSpPr>
        <p:spPr>
          <a:xfrm>
            <a:off x="609600" y="1310640"/>
            <a:ext cx="8664402" cy="4862803"/>
          </a:xfrm>
        </p:spPr>
        <p:txBody>
          <a:bodyPr>
            <a:normAutofit lnSpcReduction="10000"/>
          </a:bodyPr>
          <a:lstStyle/>
          <a:p>
            <a:r>
              <a:rPr lang="en-US" b="1" dirty="0"/>
              <a:t>Data Source:</a:t>
            </a:r>
            <a:br>
              <a:rPr lang="en-US" dirty="0"/>
            </a:br>
            <a:r>
              <a:rPr lang="en-US" dirty="0"/>
              <a:t>Quick Commerce Operations Dataset (Excel file)</a:t>
            </a:r>
          </a:p>
          <a:p>
            <a:r>
              <a:rPr lang="en-US" b="1" dirty="0"/>
              <a:t>Data Preparation &amp; Transformation (ETL):</a:t>
            </a:r>
            <a:br>
              <a:rPr lang="en-US" dirty="0"/>
            </a:br>
            <a:r>
              <a:rPr lang="en-US" dirty="0"/>
              <a:t>Power Query – to clean, transform and prepare the data for analysis</a:t>
            </a:r>
          </a:p>
          <a:p>
            <a:r>
              <a:rPr lang="en-US" b="1" dirty="0"/>
              <a:t>Data Modeling:</a:t>
            </a:r>
            <a:br>
              <a:rPr lang="en-US" dirty="0"/>
            </a:br>
            <a:r>
              <a:rPr lang="en-US" dirty="0"/>
              <a:t>Created tables such as Company, City, Product Category and Payment Method</a:t>
            </a:r>
            <a:br>
              <a:rPr lang="en-US" dirty="0"/>
            </a:br>
            <a:r>
              <a:rPr lang="en-US" dirty="0"/>
              <a:t>Established proper relationships between tables</a:t>
            </a:r>
          </a:p>
          <a:p>
            <a:r>
              <a:rPr lang="en-US" b="1" dirty="0"/>
              <a:t>Data Analysis &amp; Visualization:</a:t>
            </a:r>
            <a:br>
              <a:rPr lang="en-US" dirty="0"/>
            </a:br>
            <a:r>
              <a:rPr lang="en-US" dirty="0"/>
              <a:t>Power BI</a:t>
            </a:r>
            <a:br>
              <a:rPr lang="en-US" dirty="0"/>
            </a:br>
            <a:r>
              <a:rPr lang="en-US" dirty="0"/>
              <a:t>Charts used: Column chart, Scatter chart, Donut chart, </a:t>
            </a:r>
            <a:r>
              <a:rPr lang="en-US" dirty="0" err="1"/>
              <a:t>Treemap</a:t>
            </a:r>
            <a:r>
              <a:rPr lang="en-US" dirty="0"/>
              <a:t>, Waterfall chart and Map visual Measures created using DAX</a:t>
            </a:r>
          </a:p>
          <a:p>
            <a:r>
              <a:rPr lang="en-US" b="1" dirty="0"/>
              <a:t>Data Insights &amp; Reporting:</a:t>
            </a:r>
            <a:br>
              <a:rPr lang="en-US" dirty="0"/>
            </a:br>
            <a:r>
              <a:rPr lang="en-US" dirty="0"/>
              <a:t>Power BI Dashboard – interactive dashboard for operational and business analysis</a:t>
            </a:r>
            <a:br>
              <a:rPr lang="en-US" dirty="0"/>
            </a:br>
            <a:r>
              <a:rPr lang="en-US" dirty="0"/>
              <a:t>Filters &amp; Slicers – to </a:t>
            </a:r>
            <a:r>
              <a:rPr lang="en-US" dirty="0" err="1"/>
              <a:t>analyse</a:t>
            </a:r>
            <a:r>
              <a:rPr lang="en-US" dirty="0"/>
              <a:t> data by company, city, category, discount status and payment method</a:t>
            </a:r>
          </a:p>
          <a:p>
            <a:endParaRPr lang="en-IN" dirty="0"/>
          </a:p>
        </p:txBody>
      </p:sp>
    </p:spTree>
    <p:extLst>
      <p:ext uri="{BB962C8B-B14F-4D97-AF65-F5344CB8AC3E}">
        <p14:creationId xmlns:p14="http://schemas.microsoft.com/office/powerpoint/2010/main" val="3603097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614DF-8D93-43B1-9225-EBB94F616110}"/>
              </a:ext>
            </a:extLst>
          </p:cNvPr>
          <p:cNvSpPr>
            <a:spLocks noGrp="1"/>
          </p:cNvSpPr>
          <p:nvPr>
            <p:ph type="title"/>
          </p:nvPr>
        </p:nvSpPr>
        <p:spPr>
          <a:xfrm>
            <a:off x="677334" y="609600"/>
            <a:ext cx="8596668" cy="721360"/>
          </a:xfrm>
        </p:spPr>
        <p:txBody>
          <a:bodyPr/>
          <a:lstStyle/>
          <a:p>
            <a:r>
              <a:rPr lang="en-US" dirty="0"/>
              <a:t>Dax Measures</a:t>
            </a:r>
            <a:endParaRPr lang="en-IN" dirty="0"/>
          </a:p>
        </p:txBody>
      </p:sp>
      <p:sp>
        <p:nvSpPr>
          <p:cNvPr id="4" name="Rectangle 1">
            <a:extLst>
              <a:ext uri="{FF2B5EF4-FFF2-40B4-BE49-F238E27FC236}">
                <a16:creationId xmlns:a16="http://schemas.microsoft.com/office/drawing/2014/main" id="{D8065C65-9E4D-454F-B5FC-D5BA3ED41543}"/>
              </a:ext>
            </a:extLst>
          </p:cNvPr>
          <p:cNvSpPr>
            <a:spLocks noGrp="1" noChangeArrowheads="1"/>
          </p:cNvSpPr>
          <p:nvPr>
            <p:ph idx="1"/>
          </p:nvPr>
        </p:nvSpPr>
        <p:spPr bwMode="auto">
          <a:xfrm>
            <a:off x="447040" y="1700810"/>
            <a:ext cx="986536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DAX is called as Data Analysis Expressions.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DAX is a formula language used in Power BI</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to perform calculations and data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Measures: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Total Orders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chemeClr val="tx1"/>
                </a:solidFill>
                <a:latin typeface="Arial" panose="020B0604020202020204" pitchFamily="34" charset="0"/>
              </a:rPr>
              <a:t>On-Time delivery%</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Total Order Value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1" i="0" u="none" strike="noStrike" cap="none" normalizeH="0" baseline="0" dirty="0">
                <a:ln>
                  <a:noFill/>
                </a:ln>
                <a:solidFill>
                  <a:schemeClr val="tx1"/>
                </a:solidFill>
                <a:effectLst/>
                <a:latin typeface="Arial" panose="020B0604020202020204" pitchFamily="34" charset="0"/>
              </a:rPr>
              <a:t>Average Delivery Time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1" i="0" u="none" strike="noStrike" cap="none" normalizeH="0" baseline="0" dirty="0">
                <a:ln>
                  <a:noFill/>
                </a:ln>
                <a:solidFill>
                  <a:schemeClr val="tx1"/>
                </a:solidFill>
                <a:effectLst/>
                <a:latin typeface="Arial" panose="020B0604020202020204" pitchFamily="34" charset="0"/>
              </a:rPr>
              <a:t>Average Customer Rating</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918849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26C1B-FB26-4FE0-9EA8-0E49FA8E9EA6}"/>
              </a:ext>
            </a:extLst>
          </p:cNvPr>
          <p:cNvSpPr>
            <a:spLocks noGrp="1"/>
          </p:cNvSpPr>
          <p:nvPr>
            <p:ph type="title"/>
          </p:nvPr>
        </p:nvSpPr>
        <p:spPr>
          <a:xfrm>
            <a:off x="677334" y="609600"/>
            <a:ext cx="8596668" cy="843280"/>
          </a:xfrm>
        </p:spPr>
        <p:txBody>
          <a:bodyPr/>
          <a:lstStyle/>
          <a:p>
            <a:r>
              <a:rPr lang="en-US" dirty="0"/>
              <a:t>Data Preprocessing</a:t>
            </a:r>
            <a:endParaRPr lang="en-IN" dirty="0"/>
          </a:p>
        </p:txBody>
      </p:sp>
      <p:sp>
        <p:nvSpPr>
          <p:cNvPr id="3" name="Content Placeholder 2">
            <a:extLst>
              <a:ext uri="{FF2B5EF4-FFF2-40B4-BE49-F238E27FC236}">
                <a16:creationId xmlns:a16="http://schemas.microsoft.com/office/drawing/2014/main" id="{E7F950DF-E9A3-4914-A6BC-061AA820AD91}"/>
              </a:ext>
            </a:extLst>
          </p:cNvPr>
          <p:cNvSpPr>
            <a:spLocks noGrp="1"/>
          </p:cNvSpPr>
          <p:nvPr>
            <p:ph idx="1"/>
          </p:nvPr>
        </p:nvSpPr>
        <p:spPr>
          <a:xfrm>
            <a:off x="626534" y="1219201"/>
            <a:ext cx="8934026" cy="4862802"/>
          </a:xfrm>
        </p:spPr>
        <p:txBody>
          <a:bodyPr>
            <a:normAutofit fontScale="92500"/>
          </a:bodyPr>
          <a:lstStyle/>
          <a:p>
            <a:pPr>
              <a:lnSpc>
                <a:spcPct val="150000"/>
              </a:lnSpc>
            </a:pPr>
            <a:r>
              <a:rPr lang="en-IN" dirty="0"/>
              <a:t>The Best Tool For Cleaning And Pre-processing is Power Query Editor.</a:t>
            </a:r>
          </a:p>
          <a:p>
            <a:pPr>
              <a:lnSpc>
                <a:spcPct val="150000"/>
              </a:lnSpc>
            </a:pPr>
            <a:r>
              <a:rPr lang="en-IN" dirty="0"/>
              <a:t>It Is Used For Extracting The Data, Transforming The Data And Loading Into Power BI.</a:t>
            </a:r>
          </a:p>
          <a:p>
            <a:pPr marL="0" indent="0">
              <a:lnSpc>
                <a:spcPct val="150000"/>
              </a:lnSpc>
              <a:buNone/>
            </a:pPr>
            <a:r>
              <a:rPr lang="en-US" altLang="en-US" b="1" dirty="0">
                <a:solidFill>
                  <a:schemeClr val="accent6"/>
                </a:solidFill>
              </a:rPr>
              <a:t>Data Cleaning steps :</a:t>
            </a:r>
          </a:p>
          <a:p>
            <a:pPr marL="457200" indent="-457200">
              <a:lnSpc>
                <a:spcPct val="150000"/>
              </a:lnSpc>
              <a:buFont typeface="+mj-lt"/>
              <a:buAutoNum type="arabicPeriod"/>
            </a:pPr>
            <a:r>
              <a:rPr lang="en-US" altLang="en-US" dirty="0"/>
              <a:t>Changing the data type of discount-applied from 0,1 to Yes and No.</a:t>
            </a:r>
          </a:p>
          <a:p>
            <a:pPr marL="457200" indent="-457200">
              <a:lnSpc>
                <a:spcPct val="150000"/>
              </a:lnSpc>
              <a:buFont typeface="+mj-lt"/>
              <a:buAutoNum type="arabicPeriod"/>
            </a:pPr>
            <a:r>
              <a:rPr lang="en-US" altLang="en-US" dirty="0"/>
              <a:t>Change datatype of Rating from decimal to whole number.</a:t>
            </a:r>
          </a:p>
          <a:p>
            <a:pPr marL="457200" indent="-457200">
              <a:lnSpc>
                <a:spcPct val="150000"/>
              </a:lnSpc>
              <a:buFont typeface="+mj-lt"/>
              <a:buAutoNum type="arabicPeriod"/>
            </a:pPr>
            <a:r>
              <a:rPr lang="en-US" altLang="en-US" dirty="0"/>
              <a:t>Segregate city column to create separate table and create index for city id.</a:t>
            </a:r>
          </a:p>
          <a:p>
            <a:pPr marL="457200" indent="-457200">
              <a:lnSpc>
                <a:spcPct val="150000"/>
              </a:lnSpc>
              <a:buFont typeface="+mj-lt"/>
              <a:buAutoNum type="arabicPeriod"/>
            </a:pPr>
            <a:r>
              <a:rPr lang="en-US" altLang="en-US" dirty="0"/>
              <a:t>Segregate the product column and product ID and creating a separate table.</a:t>
            </a:r>
          </a:p>
          <a:p>
            <a:pPr marL="457200" indent="-457200">
              <a:lnSpc>
                <a:spcPct val="150000"/>
              </a:lnSpc>
              <a:buFont typeface="+mj-lt"/>
              <a:buAutoNum type="arabicPeriod"/>
            </a:pPr>
            <a:r>
              <a:rPr lang="en-US" altLang="en-US" dirty="0"/>
              <a:t>Segregate the payment method column and </a:t>
            </a:r>
            <a:r>
              <a:rPr lang="en-US" altLang="en-US" dirty="0" err="1"/>
              <a:t>paymentID</a:t>
            </a:r>
            <a:r>
              <a:rPr lang="en-US" altLang="en-US" dirty="0"/>
              <a:t> for creating a payment table.</a:t>
            </a:r>
          </a:p>
          <a:p>
            <a:pPr marL="457200" indent="-457200">
              <a:lnSpc>
                <a:spcPct val="150000"/>
              </a:lnSpc>
              <a:buFont typeface="+mj-lt"/>
              <a:buAutoNum type="arabicPeriod"/>
            </a:pPr>
            <a:r>
              <a:rPr lang="en-US" altLang="en-US" dirty="0"/>
              <a:t>Removing the duplicate values.</a:t>
            </a:r>
          </a:p>
          <a:p>
            <a:endParaRPr lang="en-IN" dirty="0"/>
          </a:p>
        </p:txBody>
      </p:sp>
    </p:spTree>
    <p:extLst>
      <p:ext uri="{BB962C8B-B14F-4D97-AF65-F5344CB8AC3E}">
        <p14:creationId xmlns:p14="http://schemas.microsoft.com/office/powerpoint/2010/main" val="2525702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BC92D-4F58-4766-BC50-6EFC30D7D68F}"/>
              </a:ext>
            </a:extLst>
          </p:cNvPr>
          <p:cNvSpPr>
            <a:spLocks noGrp="1"/>
          </p:cNvSpPr>
          <p:nvPr>
            <p:ph type="title"/>
          </p:nvPr>
        </p:nvSpPr>
        <p:spPr/>
        <p:txBody>
          <a:bodyPr/>
          <a:lstStyle/>
          <a:p>
            <a:r>
              <a:rPr lang="en-US" dirty="0"/>
              <a:t>Key Metrics and KPIs’</a:t>
            </a:r>
            <a:endParaRPr lang="en-IN" dirty="0"/>
          </a:p>
        </p:txBody>
      </p:sp>
      <p:sp>
        <p:nvSpPr>
          <p:cNvPr id="3" name="Content Placeholder 2">
            <a:extLst>
              <a:ext uri="{FF2B5EF4-FFF2-40B4-BE49-F238E27FC236}">
                <a16:creationId xmlns:a16="http://schemas.microsoft.com/office/drawing/2014/main" id="{BC92A258-0093-43C4-9C23-5C01F29E9D06}"/>
              </a:ext>
            </a:extLst>
          </p:cNvPr>
          <p:cNvSpPr>
            <a:spLocks noGrp="1"/>
          </p:cNvSpPr>
          <p:nvPr>
            <p:ph idx="1"/>
          </p:nvPr>
        </p:nvSpPr>
        <p:spPr>
          <a:xfrm>
            <a:off x="677334" y="1270000"/>
            <a:ext cx="8596668" cy="3880773"/>
          </a:xfrm>
        </p:spPr>
        <p:txBody>
          <a:bodyPr/>
          <a:lstStyle/>
          <a:p>
            <a:pPr marL="0" indent="0" algn="just">
              <a:buNone/>
            </a:pPr>
            <a:r>
              <a:rPr lang="en-US" dirty="0"/>
              <a:t>These KPIs give a quick snapshot of business performance </a:t>
            </a:r>
          </a:p>
          <a:p>
            <a:pPr algn="just"/>
            <a:r>
              <a:rPr lang="en-US" b="1" dirty="0"/>
              <a:t>Total Revenue: </a:t>
            </a:r>
            <a:r>
              <a:rPr lang="en-US" dirty="0"/>
              <a:t>It refers to the </a:t>
            </a:r>
            <a:r>
              <a:rPr lang="en-US" i="1" dirty="0"/>
              <a:t>overall revenue generated from all completed transactions during a specific period of time</a:t>
            </a:r>
            <a:r>
              <a:rPr lang="en-US" dirty="0"/>
              <a:t>. </a:t>
            </a:r>
          </a:p>
          <a:p>
            <a:pPr algn="just"/>
            <a:r>
              <a:rPr lang="en-US" b="1" dirty="0"/>
              <a:t>Total Orders: </a:t>
            </a:r>
            <a:r>
              <a:rPr lang="en-US" dirty="0"/>
              <a:t>It tells you how many orders were made within the period.</a:t>
            </a:r>
          </a:p>
          <a:p>
            <a:pPr algn="just"/>
            <a:r>
              <a:rPr lang="en-US" b="1" dirty="0"/>
              <a:t>On-time Delivery%:</a:t>
            </a:r>
            <a:r>
              <a:rPr lang="en-US" dirty="0"/>
              <a:t> It refers to the </a:t>
            </a:r>
            <a:r>
              <a:rPr lang="en-US" i="1" dirty="0"/>
              <a:t>sum of all product units sold during a specific period</a:t>
            </a:r>
            <a:r>
              <a:rPr lang="en-US" dirty="0"/>
              <a:t>.</a:t>
            </a:r>
          </a:p>
          <a:p>
            <a:endParaRPr lang="en-IN" dirty="0"/>
          </a:p>
        </p:txBody>
      </p:sp>
      <p:pic>
        <p:nvPicPr>
          <p:cNvPr id="4" name="Picture 3">
            <a:extLst>
              <a:ext uri="{FF2B5EF4-FFF2-40B4-BE49-F238E27FC236}">
                <a16:creationId xmlns:a16="http://schemas.microsoft.com/office/drawing/2014/main" id="{D663A150-931D-49DC-9FFC-D692C43C3B1B}"/>
              </a:ext>
            </a:extLst>
          </p:cNvPr>
          <p:cNvPicPr>
            <a:picLocks noChangeAspect="1"/>
          </p:cNvPicPr>
          <p:nvPr/>
        </p:nvPicPr>
        <p:blipFill rotWithShape="1">
          <a:blip r:embed="rId2"/>
          <a:srcRect t="18487"/>
          <a:stretch/>
        </p:blipFill>
        <p:spPr>
          <a:xfrm>
            <a:off x="444173" y="3769359"/>
            <a:ext cx="9231013" cy="1001711"/>
          </a:xfrm>
          <a:prstGeom prst="rect">
            <a:avLst/>
          </a:prstGeom>
        </p:spPr>
      </p:pic>
      <p:pic>
        <p:nvPicPr>
          <p:cNvPr id="5" name="Picture 4">
            <a:extLst>
              <a:ext uri="{FF2B5EF4-FFF2-40B4-BE49-F238E27FC236}">
                <a16:creationId xmlns:a16="http://schemas.microsoft.com/office/drawing/2014/main" id="{F45C2A2D-3A4C-4EFC-9520-A747C282129B}"/>
              </a:ext>
            </a:extLst>
          </p:cNvPr>
          <p:cNvPicPr>
            <a:picLocks noChangeAspect="1"/>
          </p:cNvPicPr>
          <p:nvPr/>
        </p:nvPicPr>
        <p:blipFill rotWithShape="1">
          <a:blip r:embed="rId3"/>
          <a:srcRect l="24327" t="11123" r="11858" b="-1"/>
          <a:stretch/>
        </p:blipFill>
        <p:spPr>
          <a:xfrm>
            <a:off x="1168400" y="5059332"/>
            <a:ext cx="7496402" cy="863947"/>
          </a:xfrm>
          <a:prstGeom prst="rect">
            <a:avLst/>
          </a:prstGeom>
        </p:spPr>
      </p:pic>
    </p:spTree>
    <p:extLst>
      <p:ext uri="{BB962C8B-B14F-4D97-AF65-F5344CB8AC3E}">
        <p14:creationId xmlns:p14="http://schemas.microsoft.com/office/powerpoint/2010/main" val="3181022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F6F77-60ED-4C33-AF73-E738B39043D1}"/>
              </a:ext>
            </a:extLst>
          </p:cNvPr>
          <p:cNvSpPr>
            <a:spLocks noGrp="1"/>
          </p:cNvSpPr>
          <p:nvPr>
            <p:ph type="title"/>
          </p:nvPr>
        </p:nvSpPr>
        <p:spPr/>
        <p:txBody>
          <a:bodyPr/>
          <a:lstStyle/>
          <a:p>
            <a:r>
              <a:rPr lang="en-US" dirty="0"/>
              <a:t>Data Modeling Overview</a:t>
            </a:r>
            <a:endParaRPr lang="en-IN" dirty="0"/>
          </a:p>
        </p:txBody>
      </p:sp>
      <p:pic>
        <p:nvPicPr>
          <p:cNvPr id="4" name="Content Placeholder 3">
            <a:extLst>
              <a:ext uri="{FF2B5EF4-FFF2-40B4-BE49-F238E27FC236}">
                <a16:creationId xmlns:a16="http://schemas.microsoft.com/office/drawing/2014/main" id="{960D3801-AD38-4566-89C1-0EC3E7227272}"/>
              </a:ext>
            </a:extLst>
          </p:cNvPr>
          <p:cNvPicPr>
            <a:picLocks noGrp="1" noChangeAspect="1"/>
          </p:cNvPicPr>
          <p:nvPr>
            <p:ph idx="1"/>
          </p:nvPr>
        </p:nvPicPr>
        <p:blipFill>
          <a:blip r:embed="rId2"/>
          <a:stretch>
            <a:fillRect/>
          </a:stretch>
        </p:blipFill>
        <p:spPr>
          <a:xfrm>
            <a:off x="895224" y="1164908"/>
            <a:ext cx="7863259" cy="5063172"/>
          </a:xfrm>
          <a:prstGeom prst="rect">
            <a:avLst/>
          </a:prstGeom>
        </p:spPr>
      </p:pic>
    </p:spTree>
    <p:extLst>
      <p:ext uri="{BB962C8B-B14F-4D97-AF65-F5344CB8AC3E}">
        <p14:creationId xmlns:p14="http://schemas.microsoft.com/office/powerpoint/2010/main" val="2825227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621F8-25CB-41CF-81E9-6CF6BD83B904}"/>
              </a:ext>
            </a:extLst>
          </p:cNvPr>
          <p:cNvSpPr>
            <a:spLocks noGrp="1"/>
          </p:cNvSpPr>
          <p:nvPr>
            <p:ph type="title"/>
          </p:nvPr>
        </p:nvSpPr>
        <p:spPr/>
        <p:txBody>
          <a:bodyPr/>
          <a:lstStyle/>
          <a:p>
            <a:r>
              <a:rPr lang="en-US" dirty="0"/>
              <a:t>Power BI Dashboard Overview</a:t>
            </a:r>
            <a:endParaRPr lang="en-IN" dirty="0"/>
          </a:p>
        </p:txBody>
      </p:sp>
      <p:sp>
        <p:nvSpPr>
          <p:cNvPr id="3" name="Content Placeholder 2">
            <a:extLst>
              <a:ext uri="{FF2B5EF4-FFF2-40B4-BE49-F238E27FC236}">
                <a16:creationId xmlns:a16="http://schemas.microsoft.com/office/drawing/2014/main" id="{85624995-665C-433E-8C16-856649B9C881}"/>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7837CC3F-B065-4FC5-B800-CEFD251BC43C}"/>
              </a:ext>
            </a:extLst>
          </p:cNvPr>
          <p:cNvPicPr>
            <a:picLocks noChangeAspect="1"/>
          </p:cNvPicPr>
          <p:nvPr/>
        </p:nvPicPr>
        <p:blipFill rotWithShape="1">
          <a:blip r:embed="rId2"/>
          <a:srcRect l="9481" t="20662" r="27360" b="23594"/>
          <a:stretch/>
        </p:blipFill>
        <p:spPr>
          <a:xfrm>
            <a:off x="233680" y="1337282"/>
            <a:ext cx="9475078" cy="4704080"/>
          </a:xfrm>
          <a:prstGeom prst="rect">
            <a:avLst/>
          </a:prstGeom>
        </p:spPr>
      </p:pic>
    </p:spTree>
    <p:extLst>
      <p:ext uri="{BB962C8B-B14F-4D97-AF65-F5344CB8AC3E}">
        <p14:creationId xmlns:p14="http://schemas.microsoft.com/office/powerpoint/2010/main" val="2220496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B3A34-38FB-470B-B2CE-268FB4FF1921}"/>
              </a:ext>
            </a:extLst>
          </p:cNvPr>
          <p:cNvSpPr>
            <a:spLocks noGrp="1"/>
          </p:cNvSpPr>
          <p:nvPr>
            <p:ph type="title"/>
          </p:nvPr>
        </p:nvSpPr>
        <p:spPr>
          <a:xfrm>
            <a:off x="677334" y="609600"/>
            <a:ext cx="8596668" cy="772219"/>
          </a:xfrm>
        </p:spPr>
        <p:txBody>
          <a:bodyPr>
            <a:normAutofit fontScale="90000"/>
          </a:bodyPr>
          <a:lstStyle/>
          <a:p>
            <a:r>
              <a:rPr lang="en-US" b="1" dirty="0"/>
              <a:t>On-Time Delivery % by Company</a:t>
            </a:r>
            <a:br>
              <a:rPr lang="en-US" b="1" dirty="0"/>
            </a:br>
            <a:endParaRPr lang="en-IN" dirty="0"/>
          </a:p>
        </p:txBody>
      </p:sp>
      <p:sp>
        <p:nvSpPr>
          <p:cNvPr id="4" name="Rectangle 3">
            <a:extLst>
              <a:ext uri="{FF2B5EF4-FFF2-40B4-BE49-F238E27FC236}">
                <a16:creationId xmlns:a16="http://schemas.microsoft.com/office/drawing/2014/main" id="{8A2ACECE-DDD5-4C24-8F27-FF73115537D5}"/>
              </a:ext>
            </a:extLst>
          </p:cNvPr>
          <p:cNvSpPr/>
          <p:nvPr/>
        </p:nvSpPr>
        <p:spPr>
          <a:xfrm>
            <a:off x="900854" y="3781066"/>
            <a:ext cx="8507306" cy="2585323"/>
          </a:xfrm>
          <a:prstGeom prst="rect">
            <a:avLst/>
          </a:prstGeom>
        </p:spPr>
        <p:txBody>
          <a:bodyPr wrap="square">
            <a:spAutoFit/>
          </a:bodyPr>
          <a:lstStyle/>
          <a:p>
            <a:endParaRPr lang="en-US" dirty="0"/>
          </a:p>
          <a:p>
            <a:r>
              <a:rPr lang="en-US" b="1" dirty="0"/>
              <a:t>Column Chart:</a:t>
            </a:r>
            <a:br>
              <a:rPr lang="en-US" dirty="0"/>
            </a:br>
            <a:r>
              <a:rPr lang="en-US" dirty="0"/>
              <a:t>It clearly shows and compares the on-time delivery performance of each quick commerce company and helps identify the most operationally efficient platforms.</a:t>
            </a:r>
          </a:p>
          <a:p>
            <a:r>
              <a:rPr lang="en-US" b="1" dirty="0"/>
              <a:t>X-axis:</a:t>
            </a:r>
            <a:r>
              <a:rPr lang="en-US" dirty="0"/>
              <a:t> Company Name</a:t>
            </a:r>
            <a:br>
              <a:rPr lang="en-US" dirty="0"/>
            </a:br>
            <a:r>
              <a:rPr lang="en-US" dirty="0"/>
              <a:t>(</a:t>
            </a:r>
            <a:r>
              <a:rPr lang="en-US" dirty="0" err="1"/>
              <a:t>Blinkit</a:t>
            </a:r>
            <a:r>
              <a:rPr lang="en-US" dirty="0"/>
              <a:t>, </a:t>
            </a:r>
            <a:r>
              <a:rPr lang="en-US" dirty="0" err="1"/>
              <a:t>Zepto</a:t>
            </a:r>
            <a:r>
              <a:rPr lang="en-US" dirty="0"/>
              <a:t>, </a:t>
            </a:r>
            <a:r>
              <a:rPr lang="en-US" dirty="0" err="1"/>
              <a:t>Swiggy</a:t>
            </a:r>
            <a:r>
              <a:rPr lang="en-US" dirty="0"/>
              <a:t> </a:t>
            </a:r>
            <a:r>
              <a:rPr lang="en-US" dirty="0" err="1"/>
              <a:t>Instamart</a:t>
            </a:r>
            <a:r>
              <a:rPr lang="en-US" dirty="0"/>
              <a:t>, Big Basket, Amazon Now, </a:t>
            </a:r>
            <a:r>
              <a:rPr lang="en-US" dirty="0" err="1"/>
              <a:t>Dunzo</a:t>
            </a:r>
            <a:r>
              <a:rPr lang="en-US" dirty="0"/>
              <a:t>, Flipkart Minutes, </a:t>
            </a:r>
            <a:r>
              <a:rPr lang="en-US" dirty="0" err="1"/>
              <a:t>Jio</a:t>
            </a:r>
            <a:r>
              <a:rPr lang="en-US" dirty="0"/>
              <a:t> Mart)</a:t>
            </a:r>
          </a:p>
          <a:p>
            <a:r>
              <a:rPr lang="en-US" b="1" dirty="0"/>
              <a:t>Y-axis:</a:t>
            </a:r>
            <a:r>
              <a:rPr lang="en-US" dirty="0"/>
              <a:t> Average Deliver Time</a:t>
            </a:r>
          </a:p>
        </p:txBody>
      </p:sp>
      <p:pic>
        <p:nvPicPr>
          <p:cNvPr id="3" name="Picture 2">
            <a:extLst>
              <a:ext uri="{FF2B5EF4-FFF2-40B4-BE49-F238E27FC236}">
                <a16:creationId xmlns:a16="http://schemas.microsoft.com/office/drawing/2014/main" id="{C467C673-F66E-48A0-B276-1A319C7394CB}"/>
              </a:ext>
            </a:extLst>
          </p:cNvPr>
          <p:cNvPicPr>
            <a:picLocks noChangeAspect="1"/>
          </p:cNvPicPr>
          <p:nvPr/>
        </p:nvPicPr>
        <p:blipFill>
          <a:blip r:embed="rId2"/>
          <a:stretch>
            <a:fillRect/>
          </a:stretch>
        </p:blipFill>
        <p:spPr>
          <a:xfrm>
            <a:off x="2420686" y="1319313"/>
            <a:ext cx="4295073" cy="2449445"/>
          </a:xfrm>
          <a:prstGeom prst="rect">
            <a:avLst/>
          </a:prstGeom>
        </p:spPr>
      </p:pic>
    </p:spTree>
    <p:extLst>
      <p:ext uri="{BB962C8B-B14F-4D97-AF65-F5344CB8AC3E}">
        <p14:creationId xmlns:p14="http://schemas.microsoft.com/office/powerpoint/2010/main" val="819325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BB6B-DBB4-4AB1-A59B-6BC3B30FF398}"/>
              </a:ext>
            </a:extLst>
          </p:cNvPr>
          <p:cNvSpPr>
            <a:spLocks noGrp="1"/>
          </p:cNvSpPr>
          <p:nvPr>
            <p:ph type="title"/>
          </p:nvPr>
        </p:nvSpPr>
        <p:spPr/>
        <p:txBody>
          <a:bodyPr/>
          <a:lstStyle/>
          <a:p>
            <a:r>
              <a:rPr lang="en-US" dirty="0"/>
              <a:t>Order Value by Product Category </a:t>
            </a:r>
            <a:endParaRPr lang="en-IN" dirty="0"/>
          </a:p>
        </p:txBody>
      </p:sp>
      <p:pic>
        <p:nvPicPr>
          <p:cNvPr id="4" name="Content Placeholder 3">
            <a:extLst>
              <a:ext uri="{FF2B5EF4-FFF2-40B4-BE49-F238E27FC236}">
                <a16:creationId xmlns:a16="http://schemas.microsoft.com/office/drawing/2014/main" id="{F4973515-0D91-48F6-8C10-6C332A65C1E4}"/>
              </a:ext>
            </a:extLst>
          </p:cNvPr>
          <p:cNvPicPr>
            <a:picLocks noGrp="1" noChangeAspect="1"/>
          </p:cNvPicPr>
          <p:nvPr>
            <p:ph idx="1"/>
          </p:nvPr>
        </p:nvPicPr>
        <p:blipFill>
          <a:blip r:embed="rId2"/>
          <a:stretch>
            <a:fillRect/>
          </a:stretch>
        </p:blipFill>
        <p:spPr>
          <a:xfrm>
            <a:off x="2368203" y="1270000"/>
            <a:ext cx="4977477" cy="2990004"/>
          </a:xfrm>
          <a:prstGeom prst="rect">
            <a:avLst/>
          </a:prstGeom>
        </p:spPr>
      </p:pic>
      <p:sp>
        <p:nvSpPr>
          <p:cNvPr id="7" name="TextBox 6">
            <a:extLst>
              <a:ext uri="{FF2B5EF4-FFF2-40B4-BE49-F238E27FC236}">
                <a16:creationId xmlns:a16="http://schemas.microsoft.com/office/drawing/2014/main" id="{56D88169-0546-454D-9FE2-DD3F824C4058}"/>
              </a:ext>
            </a:extLst>
          </p:cNvPr>
          <p:cNvSpPr txBox="1"/>
          <p:nvPr/>
        </p:nvSpPr>
        <p:spPr>
          <a:xfrm>
            <a:off x="1270461" y="4572337"/>
            <a:ext cx="7172960" cy="2031325"/>
          </a:xfrm>
          <a:prstGeom prst="rect">
            <a:avLst/>
          </a:prstGeom>
          <a:noFill/>
        </p:spPr>
        <p:txBody>
          <a:bodyPr wrap="square" rtlCol="0">
            <a:spAutoFit/>
          </a:bodyPr>
          <a:lstStyle/>
          <a:p>
            <a:r>
              <a:rPr lang="en-US" b="1" dirty="0"/>
              <a:t>Donut Chart:</a:t>
            </a:r>
            <a:br>
              <a:rPr lang="en-US" dirty="0"/>
            </a:br>
            <a:r>
              <a:rPr lang="en-US" dirty="0"/>
              <a:t>It Shows Percentage Contribution of Order Value by each company .</a:t>
            </a:r>
          </a:p>
          <a:p>
            <a:r>
              <a:rPr lang="en-US" b="1" dirty="0"/>
              <a:t>Legend:</a:t>
            </a:r>
            <a:r>
              <a:rPr lang="en-US" dirty="0"/>
              <a:t> Company Name</a:t>
            </a:r>
            <a:br>
              <a:rPr lang="en-US" dirty="0"/>
            </a:br>
            <a:r>
              <a:rPr lang="en-US" dirty="0"/>
              <a:t>(</a:t>
            </a:r>
            <a:r>
              <a:rPr lang="en-US" dirty="0" err="1"/>
              <a:t>Blinkit</a:t>
            </a:r>
            <a:r>
              <a:rPr lang="en-US" dirty="0"/>
              <a:t>, </a:t>
            </a:r>
            <a:r>
              <a:rPr lang="en-US" dirty="0" err="1"/>
              <a:t>Zepto</a:t>
            </a:r>
            <a:r>
              <a:rPr lang="en-US" dirty="0"/>
              <a:t>, </a:t>
            </a:r>
            <a:r>
              <a:rPr lang="en-US" dirty="0" err="1"/>
              <a:t>Swiggy</a:t>
            </a:r>
            <a:r>
              <a:rPr lang="en-US" dirty="0"/>
              <a:t> </a:t>
            </a:r>
            <a:r>
              <a:rPr lang="en-US" dirty="0" err="1"/>
              <a:t>Instamart</a:t>
            </a:r>
            <a:r>
              <a:rPr lang="en-US" dirty="0"/>
              <a:t>, Big Basket, Amazon Now, </a:t>
            </a:r>
            <a:r>
              <a:rPr lang="en-US" dirty="0" err="1"/>
              <a:t>Dunzo</a:t>
            </a:r>
            <a:r>
              <a:rPr lang="en-US" dirty="0"/>
              <a:t>, Flipkart Minutes, </a:t>
            </a:r>
            <a:r>
              <a:rPr lang="en-US" dirty="0" err="1"/>
              <a:t>Jio</a:t>
            </a:r>
            <a:r>
              <a:rPr lang="en-US" dirty="0"/>
              <a:t> Mart)</a:t>
            </a:r>
          </a:p>
          <a:p>
            <a:r>
              <a:rPr lang="en-US" dirty="0"/>
              <a:t>Product Category</a:t>
            </a:r>
          </a:p>
          <a:p>
            <a:r>
              <a:rPr lang="en-US" b="1" dirty="0"/>
              <a:t>Value: Order Value</a:t>
            </a:r>
          </a:p>
        </p:txBody>
      </p:sp>
    </p:spTree>
    <p:extLst>
      <p:ext uri="{BB962C8B-B14F-4D97-AF65-F5344CB8AC3E}">
        <p14:creationId xmlns:p14="http://schemas.microsoft.com/office/powerpoint/2010/main" val="409568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5E69B-9AD4-45B1-90BE-06FDE8F58B68}"/>
              </a:ext>
            </a:extLst>
          </p:cNvPr>
          <p:cNvSpPr>
            <a:spLocks noGrp="1"/>
          </p:cNvSpPr>
          <p:nvPr>
            <p:ph type="title"/>
          </p:nvPr>
        </p:nvSpPr>
        <p:spPr/>
        <p:txBody>
          <a:bodyPr/>
          <a:lstStyle/>
          <a:p>
            <a:r>
              <a:rPr lang="en-US" dirty="0"/>
              <a:t>Order Value by City</a:t>
            </a:r>
            <a:endParaRPr lang="en-IN" dirty="0"/>
          </a:p>
        </p:txBody>
      </p:sp>
      <p:sp>
        <p:nvSpPr>
          <p:cNvPr id="3" name="Content Placeholder 2">
            <a:extLst>
              <a:ext uri="{FF2B5EF4-FFF2-40B4-BE49-F238E27FC236}">
                <a16:creationId xmlns:a16="http://schemas.microsoft.com/office/drawing/2014/main" id="{E57B1CD2-3294-46D4-B755-8D89A93BA98B}"/>
              </a:ext>
            </a:extLst>
          </p:cNvPr>
          <p:cNvSpPr>
            <a:spLocks noGrp="1"/>
          </p:cNvSpPr>
          <p:nvPr>
            <p:ph idx="1"/>
          </p:nvPr>
        </p:nvSpPr>
        <p:spPr>
          <a:xfrm>
            <a:off x="944880" y="4145280"/>
            <a:ext cx="8148320" cy="2184400"/>
          </a:xfrm>
        </p:spPr>
        <p:txBody>
          <a:bodyPr/>
          <a:lstStyle/>
          <a:p>
            <a:r>
              <a:rPr lang="en-US" b="1" dirty="0"/>
              <a:t>Ribbon Chart:</a:t>
            </a:r>
            <a:br>
              <a:rPr lang="en-US" dirty="0"/>
            </a:br>
            <a:r>
              <a:rPr lang="en-US" dirty="0"/>
              <a:t>It Shows Percentage Contribution of Order Value by each city.</a:t>
            </a:r>
          </a:p>
          <a:p>
            <a:r>
              <a:rPr lang="en-US" b="1" dirty="0"/>
              <a:t>X-axis:</a:t>
            </a:r>
            <a:r>
              <a:rPr lang="en-US" dirty="0"/>
              <a:t> City name</a:t>
            </a:r>
            <a:br>
              <a:rPr lang="en-US" dirty="0"/>
            </a:br>
            <a:r>
              <a:rPr lang="en-US" dirty="0"/>
              <a:t>(Noida, Amritsar, Mumbai, Delhi, Kolkata, </a:t>
            </a:r>
            <a:r>
              <a:rPr lang="en-US" dirty="0" err="1"/>
              <a:t>Bengluru</a:t>
            </a:r>
            <a:r>
              <a:rPr lang="en-US" dirty="0"/>
              <a:t>, Chennai, Hyderabad, Pune, Haridwar, Jaipur, Gurgaon)</a:t>
            </a:r>
          </a:p>
          <a:p>
            <a:r>
              <a:rPr lang="en-US" dirty="0"/>
              <a:t> </a:t>
            </a:r>
            <a:r>
              <a:rPr lang="en-US" b="1" dirty="0"/>
              <a:t>Y-axis: </a:t>
            </a:r>
            <a:r>
              <a:rPr lang="en-US" dirty="0"/>
              <a:t>Order Value</a:t>
            </a:r>
            <a:endParaRPr lang="en-IN" dirty="0"/>
          </a:p>
        </p:txBody>
      </p:sp>
      <p:pic>
        <p:nvPicPr>
          <p:cNvPr id="6" name="Picture 5">
            <a:extLst>
              <a:ext uri="{FF2B5EF4-FFF2-40B4-BE49-F238E27FC236}">
                <a16:creationId xmlns:a16="http://schemas.microsoft.com/office/drawing/2014/main" id="{AE11BCCB-DFA0-479B-B1D8-C2026C292384}"/>
              </a:ext>
            </a:extLst>
          </p:cNvPr>
          <p:cNvPicPr>
            <a:picLocks noChangeAspect="1"/>
          </p:cNvPicPr>
          <p:nvPr/>
        </p:nvPicPr>
        <p:blipFill>
          <a:blip r:embed="rId2"/>
          <a:stretch>
            <a:fillRect/>
          </a:stretch>
        </p:blipFill>
        <p:spPr>
          <a:xfrm>
            <a:off x="1959770" y="1290320"/>
            <a:ext cx="4959190" cy="2722880"/>
          </a:xfrm>
          <a:prstGeom prst="rect">
            <a:avLst/>
          </a:prstGeom>
        </p:spPr>
      </p:pic>
    </p:spTree>
    <p:extLst>
      <p:ext uri="{BB962C8B-B14F-4D97-AF65-F5344CB8AC3E}">
        <p14:creationId xmlns:p14="http://schemas.microsoft.com/office/powerpoint/2010/main" val="2480365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7A9E1-1448-47EC-A3AF-AA2E034B6A23}"/>
              </a:ext>
            </a:extLst>
          </p:cNvPr>
          <p:cNvSpPr>
            <a:spLocks noGrp="1"/>
          </p:cNvSpPr>
          <p:nvPr>
            <p:ph type="title"/>
          </p:nvPr>
        </p:nvSpPr>
        <p:spPr/>
        <p:txBody>
          <a:bodyPr/>
          <a:lstStyle/>
          <a:p>
            <a:r>
              <a:rPr lang="en-US" dirty="0"/>
              <a:t>Impact of Delivery Time in Ratings</a:t>
            </a:r>
            <a:endParaRPr lang="en-IN" dirty="0"/>
          </a:p>
        </p:txBody>
      </p:sp>
      <p:sp>
        <p:nvSpPr>
          <p:cNvPr id="3" name="Content Placeholder 2">
            <a:extLst>
              <a:ext uri="{FF2B5EF4-FFF2-40B4-BE49-F238E27FC236}">
                <a16:creationId xmlns:a16="http://schemas.microsoft.com/office/drawing/2014/main" id="{A176D620-66B8-453F-8D49-F1556BD216AC}"/>
              </a:ext>
            </a:extLst>
          </p:cNvPr>
          <p:cNvSpPr>
            <a:spLocks noGrp="1"/>
          </p:cNvSpPr>
          <p:nvPr>
            <p:ph idx="1"/>
          </p:nvPr>
        </p:nvSpPr>
        <p:spPr>
          <a:xfrm>
            <a:off x="900854" y="4040914"/>
            <a:ext cx="7450666" cy="1925837"/>
          </a:xfrm>
        </p:spPr>
        <p:txBody>
          <a:bodyPr>
            <a:normAutofit/>
          </a:bodyPr>
          <a:lstStyle/>
          <a:p>
            <a:r>
              <a:rPr lang="en-US" b="1" dirty="0" err="1"/>
              <a:t>Sactter</a:t>
            </a:r>
            <a:r>
              <a:rPr lang="en-US" b="1" dirty="0"/>
              <a:t> Chart:</a:t>
            </a:r>
            <a:br>
              <a:rPr lang="en-US" dirty="0"/>
            </a:br>
            <a:r>
              <a:rPr lang="en-US" dirty="0"/>
              <a:t>It Shows Impact of Delivery time in Customer Ratings.</a:t>
            </a:r>
          </a:p>
          <a:p>
            <a:r>
              <a:rPr lang="en-US" b="1" dirty="0"/>
              <a:t>X-axis:</a:t>
            </a:r>
            <a:r>
              <a:rPr lang="en-US" dirty="0"/>
              <a:t> Delivery Time</a:t>
            </a:r>
          </a:p>
          <a:p>
            <a:r>
              <a:rPr lang="en-US" dirty="0"/>
              <a:t> </a:t>
            </a:r>
            <a:r>
              <a:rPr lang="en-US" b="1" dirty="0"/>
              <a:t>Y-axis: </a:t>
            </a:r>
            <a:r>
              <a:rPr lang="en-US" dirty="0"/>
              <a:t>Customer Rating</a:t>
            </a:r>
            <a:endParaRPr lang="en-IN" dirty="0"/>
          </a:p>
          <a:p>
            <a:endParaRPr lang="en-IN" dirty="0"/>
          </a:p>
        </p:txBody>
      </p:sp>
      <p:pic>
        <p:nvPicPr>
          <p:cNvPr id="4" name="Picture 3">
            <a:extLst>
              <a:ext uri="{FF2B5EF4-FFF2-40B4-BE49-F238E27FC236}">
                <a16:creationId xmlns:a16="http://schemas.microsoft.com/office/drawing/2014/main" id="{7660AEA9-39D9-48F8-B66D-0CE9A84063B6}"/>
              </a:ext>
            </a:extLst>
          </p:cNvPr>
          <p:cNvPicPr>
            <a:picLocks noChangeAspect="1"/>
          </p:cNvPicPr>
          <p:nvPr/>
        </p:nvPicPr>
        <p:blipFill>
          <a:blip r:embed="rId2"/>
          <a:stretch>
            <a:fillRect/>
          </a:stretch>
        </p:blipFill>
        <p:spPr>
          <a:xfrm>
            <a:off x="2749060" y="1402080"/>
            <a:ext cx="4141102" cy="2510245"/>
          </a:xfrm>
          <a:prstGeom prst="rect">
            <a:avLst/>
          </a:prstGeom>
        </p:spPr>
      </p:pic>
    </p:spTree>
    <p:extLst>
      <p:ext uri="{BB962C8B-B14F-4D97-AF65-F5344CB8AC3E}">
        <p14:creationId xmlns:p14="http://schemas.microsoft.com/office/powerpoint/2010/main" val="3605576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2A227-36F5-4136-8C75-A2487D8F337A}"/>
              </a:ext>
            </a:extLst>
          </p:cNvPr>
          <p:cNvSpPr>
            <a:spLocks noGrp="1"/>
          </p:cNvSpPr>
          <p:nvPr>
            <p:ph type="title"/>
          </p:nvPr>
        </p:nvSpPr>
        <p:spPr>
          <a:xfrm>
            <a:off x="677334" y="375920"/>
            <a:ext cx="8596668" cy="1320800"/>
          </a:xfrm>
        </p:spPr>
        <p:txBody>
          <a:bodyPr/>
          <a:lstStyle/>
          <a:p>
            <a:r>
              <a:rPr lang="en-US" dirty="0"/>
              <a:t>Company Wise Product Contribution Analysis</a:t>
            </a:r>
            <a:endParaRPr lang="en-IN" dirty="0"/>
          </a:p>
        </p:txBody>
      </p:sp>
      <p:sp>
        <p:nvSpPr>
          <p:cNvPr id="3" name="Content Placeholder 2">
            <a:extLst>
              <a:ext uri="{FF2B5EF4-FFF2-40B4-BE49-F238E27FC236}">
                <a16:creationId xmlns:a16="http://schemas.microsoft.com/office/drawing/2014/main" id="{66335C9E-7225-47B7-B8F4-14F78EAC3A26}"/>
              </a:ext>
            </a:extLst>
          </p:cNvPr>
          <p:cNvSpPr>
            <a:spLocks noGrp="1"/>
          </p:cNvSpPr>
          <p:nvPr>
            <p:ph idx="1"/>
          </p:nvPr>
        </p:nvSpPr>
        <p:spPr>
          <a:xfrm>
            <a:off x="883920" y="4348480"/>
            <a:ext cx="8390082" cy="1899920"/>
          </a:xfrm>
        </p:spPr>
        <p:txBody>
          <a:bodyPr>
            <a:normAutofit fontScale="92500" lnSpcReduction="10000"/>
          </a:bodyPr>
          <a:lstStyle/>
          <a:p>
            <a:r>
              <a:rPr lang="en-US" b="1" dirty="0" err="1"/>
              <a:t>Treemap</a:t>
            </a:r>
            <a:r>
              <a:rPr lang="en-US" b="1" dirty="0"/>
              <a:t>:</a:t>
            </a:r>
            <a:br>
              <a:rPr lang="en-US" dirty="0"/>
            </a:br>
            <a:r>
              <a:rPr lang="en-US" dirty="0"/>
              <a:t>It Shows Percentage Contribution of Order Value by each products in each company.</a:t>
            </a:r>
          </a:p>
          <a:p>
            <a:r>
              <a:rPr lang="en-US" b="1" dirty="0"/>
              <a:t>Category: </a:t>
            </a:r>
            <a:r>
              <a:rPr lang="en-US" b="1" dirty="0" err="1"/>
              <a:t>Comapny</a:t>
            </a:r>
            <a:endParaRPr lang="en-US" dirty="0"/>
          </a:p>
          <a:p>
            <a:r>
              <a:rPr lang="en-US" b="1" dirty="0"/>
              <a:t>Details : product category</a:t>
            </a:r>
          </a:p>
          <a:p>
            <a:r>
              <a:rPr lang="en-US" dirty="0"/>
              <a:t>Value: Order Value</a:t>
            </a:r>
            <a:endParaRPr lang="en-IN" dirty="0"/>
          </a:p>
        </p:txBody>
      </p:sp>
      <p:pic>
        <p:nvPicPr>
          <p:cNvPr id="4" name="Picture 3">
            <a:extLst>
              <a:ext uri="{FF2B5EF4-FFF2-40B4-BE49-F238E27FC236}">
                <a16:creationId xmlns:a16="http://schemas.microsoft.com/office/drawing/2014/main" id="{7DFCF7AD-B106-4F2E-9178-32BB156E78A3}"/>
              </a:ext>
            </a:extLst>
          </p:cNvPr>
          <p:cNvPicPr>
            <a:picLocks noChangeAspect="1"/>
          </p:cNvPicPr>
          <p:nvPr/>
        </p:nvPicPr>
        <p:blipFill>
          <a:blip r:embed="rId2"/>
          <a:stretch>
            <a:fillRect/>
          </a:stretch>
        </p:blipFill>
        <p:spPr>
          <a:xfrm>
            <a:off x="2733055" y="1337322"/>
            <a:ext cx="5024042" cy="2818118"/>
          </a:xfrm>
          <a:prstGeom prst="rect">
            <a:avLst/>
          </a:prstGeom>
        </p:spPr>
      </p:pic>
    </p:spTree>
    <p:extLst>
      <p:ext uri="{BB962C8B-B14F-4D97-AF65-F5344CB8AC3E}">
        <p14:creationId xmlns:p14="http://schemas.microsoft.com/office/powerpoint/2010/main" val="932039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777D3-CCBD-45F1-939D-278BF8D755EA}"/>
              </a:ext>
            </a:extLst>
          </p:cNvPr>
          <p:cNvSpPr>
            <a:spLocks noGrp="1"/>
          </p:cNvSpPr>
          <p:nvPr>
            <p:ph type="title"/>
          </p:nvPr>
        </p:nvSpPr>
        <p:spPr>
          <a:xfrm>
            <a:off x="677334" y="609600"/>
            <a:ext cx="9574106" cy="741681"/>
          </a:xfrm>
        </p:spPr>
        <p:txBody>
          <a:bodyPr/>
          <a:lstStyle/>
          <a:p>
            <a:r>
              <a:rPr lang="en-US" dirty="0"/>
              <a:t>Total Value by Payment method by company</a:t>
            </a:r>
            <a:endParaRPr lang="en-IN" dirty="0"/>
          </a:p>
        </p:txBody>
      </p:sp>
      <p:sp>
        <p:nvSpPr>
          <p:cNvPr id="6" name="Content Placeholder 5">
            <a:extLst>
              <a:ext uri="{FF2B5EF4-FFF2-40B4-BE49-F238E27FC236}">
                <a16:creationId xmlns:a16="http://schemas.microsoft.com/office/drawing/2014/main" id="{12008886-5906-42DC-BBDF-0CD1CB6B271E}"/>
              </a:ext>
            </a:extLst>
          </p:cNvPr>
          <p:cNvSpPr>
            <a:spLocks noGrp="1"/>
          </p:cNvSpPr>
          <p:nvPr>
            <p:ph idx="1"/>
          </p:nvPr>
        </p:nvSpPr>
        <p:spPr>
          <a:xfrm>
            <a:off x="677334" y="4114800"/>
            <a:ext cx="9309946" cy="1926562"/>
          </a:xfrm>
        </p:spPr>
        <p:txBody>
          <a:bodyPr>
            <a:normAutofit fontScale="92500" lnSpcReduction="10000"/>
          </a:bodyPr>
          <a:lstStyle/>
          <a:p>
            <a:r>
              <a:rPr lang="en-US" b="1" dirty="0"/>
              <a:t>Waterfall Chart:</a:t>
            </a:r>
            <a:br>
              <a:rPr lang="en-US" dirty="0"/>
            </a:br>
            <a:r>
              <a:rPr lang="en-US" dirty="0"/>
              <a:t>It clearly shows how each </a:t>
            </a:r>
            <a:r>
              <a:rPr lang="en-US" b="1" dirty="0"/>
              <a:t>payment method and company</a:t>
            </a:r>
            <a:r>
              <a:rPr lang="en-US" dirty="0"/>
              <a:t> contributes to the overall order value and helps compare positive and negative changes across companies.</a:t>
            </a:r>
          </a:p>
          <a:p>
            <a:r>
              <a:rPr lang="en-US" b="1" dirty="0"/>
              <a:t>Category:</a:t>
            </a:r>
            <a:r>
              <a:rPr lang="en-US" dirty="0"/>
              <a:t> Payment Method and Company</a:t>
            </a:r>
          </a:p>
          <a:p>
            <a:r>
              <a:rPr lang="en-US" b="1" dirty="0"/>
              <a:t>Breakdown: </a:t>
            </a:r>
            <a:r>
              <a:rPr lang="en-US" dirty="0"/>
              <a:t>Company</a:t>
            </a:r>
          </a:p>
          <a:p>
            <a:r>
              <a:rPr lang="en-US" b="1" dirty="0"/>
              <a:t>Y-axis:</a:t>
            </a:r>
            <a:r>
              <a:rPr lang="en-US" dirty="0"/>
              <a:t> Order Value (Amount)</a:t>
            </a:r>
          </a:p>
          <a:p>
            <a:endParaRPr lang="en-IN" dirty="0"/>
          </a:p>
        </p:txBody>
      </p:sp>
      <p:pic>
        <p:nvPicPr>
          <p:cNvPr id="7" name="Picture 6">
            <a:extLst>
              <a:ext uri="{FF2B5EF4-FFF2-40B4-BE49-F238E27FC236}">
                <a16:creationId xmlns:a16="http://schemas.microsoft.com/office/drawing/2014/main" id="{876CAA54-4F14-4AE3-9BFC-2CDE15F7A055}"/>
              </a:ext>
            </a:extLst>
          </p:cNvPr>
          <p:cNvPicPr>
            <a:picLocks noChangeAspect="1"/>
          </p:cNvPicPr>
          <p:nvPr/>
        </p:nvPicPr>
        <p:blipFill rotWithShape="1">
          <a:blip r:embed="rId2"/>
          <a:srcRect t="11140"/>
          <a:stretch/>
        </p:blipFill>
        <p:spPr>
          <a:xfrm>
            <a:off x="3180080" y="1351281"/>
            <a:ext cx="4409440" cy="2465194"/>
          </a:xfrm>
          <a:prstGeom prst="rect">
            <a:avLst/>
          </a:prstGeom>
        </p:spPr>
      </p:pic>
    </p:spTree>
    <p:extLst>
      <p:ext uri="{BB962C8B-B14F-4D97-AF65-F5344CB8AC3E}">
        <p14:creationId xmlns:p14="http://schemas.microsoft.com/office/powerpoint/2010/main" val="3212157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6E631-2244-4863-B2C4-CF7A25D0A7C6}"/>
              </a:ext>
            </a:extLst>
          </p:cNvPr>
          <p:cNvSpPr>
            <a:spLocks noGrp="1"/>
          </p:cNvSpPr>
          <p:nvPr>
            <p:ph type="title"/>
          </p:nvPr>
        </p:nvSpPr>
        <p:spPr>
          <a:xfrm>
            <a:off x="677334" y="609600"/>
            <a:ext cx="8596668" cy="640080"/>
          </a:xfrm>
        </p:spPr>
        <p:txBody>
          <a:bodyPr/>
          <a:lstStyle/>
          <a:p>
            <a:r>
              <a:rPr lang="en-US" dirty="0"/>
              <a:t>Interactivity and Navigation</a:t>
            </a:r>
            <a:endParaRPr lang="en-IN" dirty="0"/>
          </a:p>
        </p:txBody>
      </p:sp>
      <p:sp>
        <p:nvSpPr>
          <p:cNvPr id="3" name="Content Placeholder 2">
            <a:extLst>
              <a:ext uri="{FF2B5EF4-FFF2-40B4-BE49-F238E27FC236}">
                <a16:creationId xmlns:a16="http://schemas.microsoft.com/office/drawing/2014/main" id="{6FBECF19-6DAE-4108-9E7F-DA6D985A1DBD}"/>
              </a:ext>
            </a:extLst>
          </p:cNvPr>
          <p:cNvSpPr>
            <a:spLocks noGrp="1"/>
          </p:cNvSpPr>
          <p:nvPr>
            <p:ph idx="1"/>
          </p:nvPr>
        </p:nvSpPr>
        <p:spPr>
          <a:xfrm>
            <a:off x="782320" y="1442720"/>
            <a:ext cx="7721600" cy="5019039"/>
          </a:xfrm>
        </p:spPr>
        <p:txBody>
          <a:bodyPr/>
          <a:lstStyle/>
          <a:p>
            <a:r>
              <a:rPr lang="en-US" dirty="0"/>
              <a:t>In this dashboard, </a:t>
            </a:r>
            <a:r>
              <a:rPr lang="en-US" b="1" dirty="0"/>
              <a:t>each company is represented using its official icon</a:t>
            </a:r>
            <a:r>
              <a:rPr lang="en-US" dirty="0"/>
              <a:t> instead of a normal slicer.</a:t>
            </a:r>
          </a:p>
          <a:p>
            <a:r>
              <a:rPr lang="en-US" dirty="0"/>
              <a:t>When the user clicks a </a:t>
            </a:r>
            <a:r>
              <a:rPr lang="en-US" b="1" dirty="0"/>
              <a:t>company icon</a:t>
            </a:r>
            <a:r>
              <a:rPr lang="en-US" dirty="0"/>
              <a:t>, the related charts and KPIs automatically change to show only that company’s data.</a:t>
            </a:r>
          </a:p>
          <a:p>
            <a:r>
              <a:rPr lang="en-US" dirty="0"/>
              <a:t>This interaction is implemented using </a:t>
            </a:r>
            <a:r>
              <a:rPr lang="en-US" b="1" dirty="0"/>
              <a:t>Bookmarks in Power BI</a:t>
            </a:r>
            <a:r>
              <a:rPr lang="en-US" dirty="0"/>
              <a:t>.</a:t>
            </a:r>
          </a:p>
          <a:p>
            <a:r>
              <a:rPr lang="en-US" dirty="0"/>
              <a:t>Each bookmark stores a specific visual state for a selected company.</a:t>
            </a:r>
          </a:p>
          <a:p>
            <a:r>
              <a:rPr lang="en-US" dirty="0"/>
              <a:t>Buttons are linked to the respective bookmarks to enable smooth navigation.</a:t>
            </a:r>
          </a:p>
          <a:p>
            <a:r>
              <a:rPr lang="en-US" dirty="0"/>
              <a:t>This approach improves user experience and makes the dashboard more interactive and visually intuitive.</a:t>
            </a:r>
          </a:p>
          <a:p>
            <a:r>
              <a:rPr lang="en-US" dirty="0"/>
              <a:t>It also allows quick comparison of performance across different companies.</a:t>
            </a:r>
            <a:endParaRPr lang="en-IN" dirty="0"/>
          </a:p>
        </p:txBody>
      </p:sp>
      <p:pic>
        <p:nvPicPr>
          <p:cNvPr id="5" name="Picture 4">
            <a:extLst>
              <a:ext uri="{FF2B5EF4-FFF2-40B4-BE49-F238E27FC236}">
                <a16:creationId xmlns:a16="http://schemas.microsoft.com/office/drawing/2014/main" id="{5B9B5506-2D62-4744-9008-DE76A0AF35E5}"/>
              </a:ext>
            </a:extLst>
          </p:cNvPr>
          <p:cNvPicPr>
            <a:picLocks noChangeAspect="1"/>
          </p:cNvPicPr>
          <p:nvPr/>
        </p:nvPicPr>
        <p:blipFill>
          <a:blip r:embed="rId2"/>
          <a:stretch>
            <a:fillRect/>
          </a:stretch>
        </p:blipFill>
        <p:spPr>
          <a:xfrm>
            <a:off x="8430722" y="313754"/>
            <a:ext cx="957580" cy="6230491"/>
          </a:xfrm>
          <a:prstGeom prst="rect">
            <a:avLst/>
          </a:prstGeom>
        </p:spPr>
      </p:pic>
    </p:spTree>
    <p:extLst>
      <p:ext uri="{BB962C8B-B14F-4D97-AF65-F5344CB8AC3E}">
        <p14:creationId xmlns:p14="http://schemas.microsoft.com/office/powerpoint/2010/main" val="3278503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84556-B200-408F-BB57-4A45C0C1319A}"/>
              </a:ext>
            </a:extLst>
          </p:cNvPr>
          <p:cNvSpPr>
            <a:spLocks noGrp="1"/>
          </p:cNvSpPr>
          <p:nvPr>
            <p:ph type="title"/>
          </p:nvPr>
        </p:nvSpPr>
        <p:spPr/>
        <p:txBody>
          <a:bodyPr/>
          <a:lstStyle/>
          <a:p>
            <a:r>
              <a:rPr lang="en-US" dirty="0"/>
              <a:t>Page Navigation </a:t>
            </a:r>
            <a:endParaRPr lang="en-IN" dirty="0"/>
          </a:p>
        </p:txBody>
      </p:sp>
      <p:sp>
        <p:nvSpPr>
          <p:cNvPr id="3" name="Content Placeholder 2">
            <a:extLst>
              <a:ext uri="{FF2B5EF4-FFF2-40B4-BE49-F238E27FC236}">
                <a16:creationId xmlns:a16="http://schemas.microsoft.com/office/drawing/2014/main" id="{1B91796F-35D6-48C9-AC6A-7B1E7F44F89C}"/>
              </a:ext>
            </a:extLst>
          </p:cNvPr>
          <p:cNvSpPr>
            <a:spLocks noGrp="1"/>
          </p:cNvSpPr>
          <p:nvPr>
            <p:ph idx="1"/>
          </p:nvPr>
        </p:nvSpPr>
        <p:spPr>
          <a:xfrm>
            <a:off x="591358" y="1280161"/>
            <a:ext cx="6794962" cy="4761202"/>
          </a:xfrm>
        </p:spPr>
        <p:txBody>
          <a:bodyPr/>
          <a:lstStyle/>
          <a:p>
            <a:r>
              <a:rPr lang="en-US" dirty="0"/>
              <a:t>In this dashboard, a </a:t>
            </a:r>
            <a:r>
              <a:rPr lang="en-US" b="1" dirty="0"/>
              <a:t>Clear Slicer icon</a:t>
            </a:r>
            <a:r>
              <a:rPr lang="en-US" dirty="0"/>
              <a:t> is provided to reset all slicer selections at once.</a:t>
            </a:r>
          </a:p>
          <a:p>
            <a:r>
              <a:rPr lang="en-US" dirty="0"/>
              <a:t>When the user clicks the </a:t>
            </a:r>
            <a:r>
              <a:rPr lang="en-US" b="1" dirty="0"/>
              <a:t>Clear icon</a:t>
            </a:r>
            <a:r>
              <a:rPr lang="en-US" dirty="0"/>
              <a:t>, all applied filters and slicers are automatically cleared using a bookmark action.</a:t>
            </a:r>
          </a:p>
          <a:p>
            <a:r>
              <a:rPr lang="en-US" dirty="0"/>
              <a:t>This helps users quickly return to the default dashboard view.</a:t>
            </a:r>
          </a:p>
          <a:p>
            <a:r>
              <a:rPr lang="en-US" dirty="0"/>
              <a:t>An </a:t>
            </a:r>
            <a:r>
              <a:rPr lang="en-US" b="1" dirty="0"/>
              <a:t>Information icon</a:t>
            </a:r>
            <a:r>
              <a:rPr lang="en-US" dirty="0"/>
              <a:t> is also added in the dashboard for user guidance.</a:t>
            </a:r>
            <a:br>
              <a:rPr lang="en-US" dirty="0"/>
            </a:br>
            <a:r>
              <a:rPr lang="en-US" dirty="0"/>
              <a:t>When the user clicks the Information icon, it </a:t>
            </a:r>
            <a:r>
              <a:rPr lang="en-US" b="1" dirty="0"/>
              <a:t>navigates to an external web page</a:t>
            </a:r>
            <a:r>
              <a:rPr lang="en-US" dirty="0"/>
              <a:t>.</a:t>
            </a:r>
          </a:p>
          <a:p>
            <a:r>
              <a:rPr lang="en-US" dirty="0"/>
              <a:t>This feature is implemented using </a:t>
            </a:r>
            <a:r>
              <a:rPr lang="en-US" b="1" dirty="0"/>
              <a:t>buttons and action (web URL navigation)</a:t>
            </a:r>
            <a:r>
              <a:rPr lang="en-US" dirty="0"/>
              <a:t> in Power BI.</a:t>
            </a:r>
          </a:p>
          <a:p>
            <a:r>
              <a:rPr lang="en-US" dirty="0"/>
              <a:t>It improves usability and helps users easily understand the dashboard.</a:t>
            </a:r>
          </a:p>
          <a:p>
            <a:endParaRPr lang="en-IN" dirty="0"/>
          </a:p>
        </p:txBody>
      </p:sp>
      <p:pic>
        <p:nvPicPr>
          <p:cNvPr id="4" name="Picture 3">
            <a:extLst>
              <a:ext uri="{FF2B5EF4-FFF2-40B4-BE49-F238E27FC236}">
                <a16:creationId xmlns:a16="http://schemas.microsoft.com/office/drawing/2014/main" id="{683D4CFA-6220-405D-84C7-BB82C70FBE01}"/>
              </a:ext>
            </a:extLst>
          </p:cNvPr>
          <p:cNvPicPr>
            <a:picLocks noChangeAspect="1"/>
          </p:cNvPicPr>
          <p:nvPr/>
        </p:nvPicPr>
        <p:blipFill>
          <a:blip r:embed="rId2"/>
          <a:stretch>
            <a:fillRect/>
          </a:stretch>
        </p:blipFill>
        <p:spPr>
          <a:xfrm>
            <a:off x="7180344" y="1750286"/>
            <a:ext cx="1880298" cy="2740434"/>
          </a:xfrm>
          <a:prstGeom prst="rect">
            <a:avLst/>
          </a:prstGeom>
        </p:spPr>
      </p:pic>
    </p:spTree>
    <p:extLst>
      <p:ext uri="{BB962C8B-B14F-4D97-AF65-F5344CB8AC3E}">
        <p14:creationId xmlns:p14="http://schemas.microsoft.com/office/powerpoint/2010/main" val="2083867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4DC72-34A0-4D03-8F07-54D9C03CE489}"/>
              </a:ext>
            </a:extLst>
          </p:cNvPr>
          <p:cNvSpPr>
            <a:spLocks noGrp="1"/>
          </p:cNvSpPr>
          <p:nvPr>
            <p:ph type="title"/>
          </p:nvPr>
        </p:nvSpPr>
        <p:spPr>
          <a:xfrm>
            <a:off x="667174" y="2611120"/>
            <a:ext cx="9838266" cy="1696720"/>
          </a:xfrm>
        </p:spPr>
        <p:txBody>
          <a:bodyPr/>
          <a:lstStyle/>
          <a:p>
            <a:pPr algn="ctr"/>
            <a:r>
              <a:rPr lang="en-US" sz="5400" dirty="0"/>
              <a:t>Thank you!!!</a:t>
            </a:r>
            <a:br>
              <a:rPr lang="en-US" dirty="0"/>
            </a:br>
            <a:endParaRPr lang="en-IN" dirty="0"/>
          </a:p>
        </p:txBody>
      </p:sp>
      <p:sp>
        <p:nvSpPr>
          <p:cNvPr id="4" name="Smiley Face 3">
            <a:extLst>
              <a:ext uri="{FF2B5EF4-FFF2-40B4-BE49-F238E27FC236}">
                <a16:creationId xmlns:a16="http://schemas.microsoft.com/office/drawing/2014/main" id="{231B6460-432D-46E0-AA9E-8AE88583783B}"/>
              </a:ext>
            </a:extLst>
          </p:cNvPr>
          <p:cNvSpPr/>
          <p:nvPr/>
        </p:nvSpPr>
        <p:spPr>
          <a:xfrm>
            <a:off x="7650480" y="2814320"/>
            <a:ext cx="508000" cy="452120"/>
          </a:xfrm>
          <a:prstGeom prst="smileyFace">
            <a:avLst>
              <a:gd name="adj" fmla="val 4653"/>
            </a:avLst>
          </a:prstGeom>
          <a:solidFill>
            <a:schemeClr val="accent5">
              <a:lumMod val="60000"/>
              <a:lumOff val="4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850041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348</TotalTime>
  <Words>825</Words>
  <Application>Microsoft Office PowerPoint</Application>
  <PresentationFormat>Widescreen</PresentationFormat>
  <Paragraphs>109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Trebuchet MS</vt:lpstr>
      <vt:lpstr>Wingdings 3</vt:lpstr>
      <vt:lpstr>Facet</vt:lpstr>
      <vt:lpstr>Quick Commerce Order And Delivery Performance Analysis</vt:lpstr>
      <vt:lpstr>Introduction</vt:lpstr>
      <vt:lpstr>Problem Statement</vt:lpstr>
      <vt:lpstr>Business Problems</vt:lpstr>
      <vt:lpstr>Data Overview</vt:lpstr>
      <vt:lpstr>Technology Used</vt:lpstr>
      <vt:lpstr>Dax Measures</vt:lpstr>
      <vt:lpstr>Data Preprocessing</vt:lpstr>
      <vt:lpstr>Key Metrics and KPIs’</vt:lpstr>
      <vt:lpstr>Data Modeling Overview</vt:lpstr>
      <vt:lpstr>Power BI Dashboard Overview</vt:lpstr>
      <vt:lpstr>On-Time Delivery % by Company </vt:lpstr>
      <vt:lpstr>Order Value by Product Category </vt:lpstr>
      <vt:lpstr>Order Value by City</vt:lpstr>
      <vt:lpstr>Impact of Delivery Time in Ratings</vt:lpstr>
      <vt:lpstr>Company Wise Product Contribution Analysis</vt:lpstr>
      <vt:lpstr>Total Value by Payment method by company</vt:lpstr>
      <vt:lpstr>Interactivity and Navigation</vt:lpstr>
      <vt:lpstr>Page Navigation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Commerce Order And Delivery Performance Analysis</dc:title>
  <dc:creator>Tamilbharathi R</dc:creator>
  <cp:lastModifiedBy>Tamilbharathi R</cp:lastModifiedBy>
  <cp:revision>20</cp:revision>
  <dcterms:created xsi:type="dcterms:W3CDTF">2026-03-03T08:20:34Z</dcterms:created>
  <dcterms:modified xsi:type="dcterms:W3CDTF">2026-03-07T07:45:40Z</dcterms:modified>
</cp:coreProperties>
</file>